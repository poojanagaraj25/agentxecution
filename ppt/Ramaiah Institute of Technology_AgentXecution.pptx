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374" r:id="rId2"/>
    <p:sldId id="375" r:id="rId3"/>
    <p:sldId id="257" r:id="rId4"/>
    <p:sldId id="376" r:id="rId5"/>
    <p:sldId id="377" r:id="rId6"/>
    <p:sldId id="384" r:id="rId7"/>
    <p:sldId id="385" r:id="rId8"/>
    <p:sldId id="386" r:id="rId9"/>
    <p:sldId id="387" r:id="rId10"/>
    <p:sldId id="388" r:id="rId11"/>
    <p:sldId id="389" r:id="rId12"/>
    <p:sldId id="390" r:id="rId13"/>
    <p:sldId id="378" r:id="rId14"/>
    <p:sldId id="379" r:id="rId15"/>
    <p:sldId id="380" r:id="rId16"/>
    <p:sldId id="382" r:id="rId17"/>
    <p:sldId id="383" r:id="rId18"/>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91" autoAdjust="0"/>
    <p:restoredTop sz="94660"/>
  </p:normalViewPr>
  <p:slideViewPr>
    <p:cSldViewPr snapToGrid="0">
      <p:cViewPr varScale="1">
        <p:scale>
          <a:sx n="63" d="100"/>
          <a:sy n="63" d="100"/>
        </p:scale>
        <p:origin x="612"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IN"/>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06BAFF0E-449D-426B-83E6-7E557F3BCD7F}" type="datetimeFigureOut">
              <a:rPr lang="en-IN" smtClean="0"/>
              <a:t>08-05-2026</a:t>
            </a:fld>
            <a:endParaRPr lang="en-IN"/>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IN"/>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IN"/>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0C2ADFC2-4656-49F6-8F5B-84313FD65219}" type="slidenum">
              <a:rPr lang="en-IN" smtClean="0"/>
              <a:t>‹#›</a:t>
            </a:fld>
            <a:endParaRPr lang="en-IN"/>
          </a:p>
        </p:txBody>
      </p:sp>
    </p:spTree>
    <p:extLst>
      <p:ext uri="{BB962C8B-B14F-4D97-AF65-F5344CB8AC3E}">
        <p14:creationId xmlns:p14="http://schemas.microsoft.com/office/powerpoint/2010/main" val="29312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495773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61412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977886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80CF5-8C07-D0D4-8369-93D019508B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C3BCD6-1E03-F6CC-9C58-4D68015A5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02ED83-17F0-560F-9356-2E10FD81A9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912FAC-0A7C-F387-7E0D-9C04746AD77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967264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E2D1D-F8C7-361D-E298-73A066BD13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E2877-D6BC-A913-C176-90B0942AFB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8A57B3-E6E8-E0D9-1362-48505AEF99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DA090B-FD6E-64A1-9E7A-932C531C249F}"/>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591843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BCEEA-5D72-52C6-FC7B-525A3F10A9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031738-7970-76A5-48B6-E7A510C9EC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81002F-AD38-C49E-74E3-FB2B666C65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7879EE-03C3-EFDE-8F5F-9F02DAA8CE7B}"/>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7108979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28B91-7B08-2978-86A4-31BF156FA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EFE7D8-D42C-51A0-2C62-C690059CA1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D2F1C-C5BF-6804-A076-AE8E2F21E3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B163CC-4F88-04FD-8A0F-E9B8F1C976DE}"/>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852456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44ACB-08CA-9113-6F89-33B390486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0DC9E8-717E-9BC5-1290-57DA48C7DE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FFB38D-541D-D5C0-8E4B-544AA66AFF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51C51F-FB62-1AAB-434F-8F617C9ED085}"/>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2751321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F5AE8-113E-8696-247B-907AB301D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EA1FF8-EBFF-F1CC-BEAB-B683811E9D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5C1E4E-A64B-46D3-8A64-D068843931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3CA1D2-E303-9359-3CCB-4F35889FDCBA}"/>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3840268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7F88B-D3C6-9C17-D128-267F14EBFE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E8C6E-7095-F6FC-2AA6-D26106297C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B6553F-AFDD-5FBA-6CEE-504D382F94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813E20-FD8E-5E0F-D271-728F618C5B4F}"/>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2224807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9627126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582133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9451306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708953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540032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264D7-FD5D-4592-B4BA-0A1638C282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322DA6-5CC0-4908-AB19-3BCB77EFC6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4FF6F72-5872-4CEB-A8C1-89CFCA54971A}"/>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0246BC3D-6474-4263-9B99-5E9D15575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A2E46B-395F-44BB-A399-301BD8986F4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203259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59695-79A9-4446-91E3-05E7FE7A15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66FC54-E211-48A1-8BCA-378B4D4D3A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25B42F-19A5-4F50-9CDF-42D673EB06AB}"/>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14AEB133-FF63-4CDE-83A1-44AF473A23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A2E08C-2449-4EE7-85C3-B82B566620C6}"/>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1830120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626C4-320A-4799-9AE2-8DDE1CA618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2DC3420-268D-4A73-990C-4BA3150862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19061-FA9F-4CD9-8574-300E0E8997C3}"/>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86C8B69E-7D13-401E-BA52-560698F833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0F2BDD-5AC8-4AE3-8868-F8CC1DA764F0}"/>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28694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219AC-BA64-4335-BA9B-DF3911CCE5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78DA36-87D1-4E4A-8D55-031DDA3086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5276BB-4B19-4B31-A15F-D171E88D88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8E846C6-E4EC-417D-8F33-F85084C30AED}"/>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6" name="Footer Placeholder 5">
            <a:extLst>
              <a:ext uri="{FF2B5EF4-FFF2-40B4-BE49-F238E27FC236}">
                <a16:creationId xmlns:a16="http://schemas.microsoft.com/office/drawing/2014/main" id="{4EC9D499-DC6A-4178-AFA3-2E2D44FD32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E19571-DCCE-45D8-8783-EA6DC03D8E0C}"/>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571939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78171-0F87-491D-955D-347FAE8D06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23EC69-5405-4A73-84BD-F54C9837DB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A1D5BF-B1AE-44F7-BF58-8E4B057CDD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07E8175-A0D7-4248-A114-5AC9DF5116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338F68-9ACA-4AC9-B3EC-D38E662B2A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1F9F48F-32B7-4E62-920E-426CD4A43E9D}"/>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8" name="Footer Placeholder 7">
            <a:extLst>
              <a:ext uri="{FF2B5EF4-FFF2-40B4-BE49-F238E27FC236}">
                <a16:creationId xmlns:a16="http://schemas.microsoft.com/office/drawing/2014/main" id="{6F7049EB-BDFC-47EA-9692-76B73894332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F573FA-F1A3-4137-8DF6-8477A299DA3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476541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EC694-79DB-4363-B1A5-15A50E69FF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74B602A-C477-4739-9033-AA90AEB955B9}"/>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4" name="Footer Placeholder 3">
            <a:extLst>
              <a:ext uri="{FF2B5EF4-FFF2-40B4-BE49-F238E27FC236}">
                <a16:creationId xmlns:a16="http://schemas.microsoft.com/office/drawing/2014/main" id="{1BE378F1-E22C-4E55-9DDB-BB46A0C14B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5B7E4F-F4BD-47E4-8AF4-FE65D6600CE7}"/>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73687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180C5E-189E-4B16-8B64-6164F629D5E9}"/>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3" name="Footer Placeholder 2">
            <a:extLst>
              <a:ext uri="{FF2B5EF4-FFF2-40B4-BE49-F238E27FC236}">
                <a16:creationId xmlns:a16="http://schemas.microsoft.com/office/drawing/2014/main" id="{56B3E471-C627-4A6F-8940-20A4EE7AC0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9F3B9AE-03BF-4E26-AF08-84460AF45A0D}"/>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407498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65660-5922-4086-9079-F98C845BCC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8CA404-6545-4C37-A301-16A160A007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4D04D32-44ED-4022-9B36-1EE734ED65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38BFFD-8B76-47E2-B9FB-5194F010139E}"/>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6" name="Footer Placeholder 5">
            <a:extLst>
              <a:ext uri="{FF2B5EF4-FFF2-40B4-BE49-F238E27FC236}">
                <a16:creationId xmlns:a16="http://schemas.microsoft.com/office/drawing/2014/main" id="{CED40FA1-8D0A-4E4C-9953-054729FB87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A9A4A1-B2D3-4598-9C16-19E3F974E0DC}"/>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90353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7357B-DBC0-436F-82C9-9BE7A6D463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5CAA78A-18AB-4BC5-BEFE-4D14122FCE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776BB34-FC6B-48B7-88A4-726F547354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AB742C-BF4E-4140-8947-871247A3354F}"/>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6" name="Footer Placeholder 5">
            <a:extLst>
              <a:ext uri="{FF2B5EF4-FFF2-40B4-BE49-F238E27FC236}">
                <a16:creationId xmlns:a16="http://schemas.microsoft.com/office/drawing/2014/main" id="{C521326A-4386-47BF-8036-878141A473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85A690-66C4-49A2-AFF2-86E9646D827A}"/>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872603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FD690-141F-4B82-AAA6-311E8BB6E81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5DCD3E-D233-4229-9571-4585EFE523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12A0F7-FDB1-43FF-A571-32B80EE1015F}"/>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A64B04E9-3520-49DA-836F-CFFB881FBD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EC8C8B-43E3-4E78-9BFA-28431143D919}"/>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2194527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6DD375-6C7A-403C-8B36-D5D3CFCF0E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BF1880-F132-48C9-9D79-CA50684340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EB219E-CEFA-45B4-9588-67FAD5B86FBB}"/>
              </a:ext>
            </a:extLst>
          </p:cNvPr>
          <p:cNvSpPr>
            <a:spLocks noGrp="1"/>
          </p:cNvSpPr>
          <p:nvPr>
            <p:ph type="dt" sz="half" idx="10"/>
          </p:nvPr>
        </p:nvSpPr>
        <p:spPr/>
        <p:txBody>
          <a:body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CA014DA2-B751-43ED-834C-17F142F9ED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2DBFD0-8FFE-4F10-9A8D-DC32F229459D}"/>
              </a:ext>
            </a:extLst>
          </p:cNvPr>
          <p:cNvSpPr>
            <a:spLocks noGrp="1"/>
          </p:cNvSpPr>
          <p:nvPr>
            <p:ph type="sldNum" sz="quarter" idx="12"/>
          </p:nvPr>
        </p:nvSpPr>
        <p:spPr/>
        <p:txBody>
          <a:bodyPr/>
          <a:lstStyle/>
          <a:p>
            <a:fld id="{D4EC16B2-A79F-4EF3-B109-260A8C965ED1}" type="slidenum">
              <a:rPr lang="en-IN" smtClean="0"/>
              <a:t>‹#›</a:t>
            </a:fld>
            <a:endParaRPr lang="en-IN"/>
          </a:p>
        </p:txBody>
      </p:sp>
    </p:spTree>
    <p:extLst>
      <p:ext uri="{BB962C8B-B14F-4D97-AF65-F5344CB8AC3E}">
        <p14:creationId xmlns:p14="http://schemas.microsoft.com/office/powerpoint/2010/main" val="3867288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0540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D61A3F-7420-4211-A9AF-443ACDC04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A53A93-B55A-4668-86F8-9483DF49D6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E196E0-46F1-4FF9-A486-7116F5016B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7F44E2-D9AA-43EA-B93A-EEC6CDC19CD5}" type="datetimeFigureOut">
              <a:rPr lang="en-IN" smtClean="0"/>
              <a:t>08-05-2026</a:t>
            </a:fld>
            <a:endParaRPr lang="en-IN"/>
          </a:p>
        </p:txBody>
      </p:sp>
      <p:sp>
        <p:nvSpPr>
          <p:cNvPr id="5" name="Footer Placeholder 4">
            <a:extLst>
              <a:ext uri="{FF2B5EF4-FFF2-40B4-BE49-F238E27FC236}">
                <a16:creationId xmlns:a16="http://schemas.microsoft.com/office/drawing/2014/main" id="{FB0E07B5-C98B-47C4-829C-B640A6AEE9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113DEB-9452-48C6-802D-EC521E6023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C16B2-A79F-4EF3-B109-260A8C965ED1}" type="slidenum">
              <a:rPr lang="en-IN" smtClean="0"/>
              <a:t>‹#›</a:t>
            </a:fld>
            <a:endParaRPr lang="en-IN"/>
          </a:p>
        </p:txBody>
      </p:sp>
    </p:spTree>
    <p:extLst>
      <p:ext uri="{BB962C8B-B14F-4D97-AF65-F5344CB8AC3E}">
        <p14:creationId xmlns:p14="http://schemas.microsoft.com/office/powerpoint/2010/main" val="1575818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hyperlink" Target="https://drive.google.com/file/d/1NCPm3OpwBVc7nBl-BSozBqMca55HINry/view?usp=sharing" TargetMode="External"/><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 name="Picture 98">
            <a:extLst>
              <a:ext uri="{FF2B5EF4-FFF2-40B4-BE49-F238E27FC236}">
                <a16:creationId xmlns:a16="http://schemas.microsoft.com/office/drawing/2014/main" id="{AA78BBCF-2634-4089-8492-D8569E905F67}"/>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10000" b="90000" l="10000" r="90000"/>
                    </a14:imgEffect>
                  </a14:imgLayer>
                </a14:imgProps>
              </a:ext>
            </a:extLst>
          </a:blip>
          <a:srcRect l="35216" t="9860" r="35722" b="40504"/>
          <a:stretch/>
        </p:blipFill>
        <p:spPr>
          <a:xfrm>
            <a:off x="7372538" y="1619794"/>
            <a:ext cx="4421349" cy="5638238"/>
          </a:xfrm>
          <a:prstGeom prst="rect">
            <a:avLst/>
          </a:prstGeom>
        </p:spPr>
      </p:pic>
      <p:sp>
        <p:nvSpPr>
          <p:cNvPr id="75" name="TextBox 74">
            <a:extLst>
              <a:ext uri="{FF2B5EF4-FFF2-40B4-BE49-F238E27FC236}">
                <a16:creationId xmlns:a16="http://schemas.microsoft.com/office/drawing/2014/main" id="{966C81A6-8FBD-44BD-9DF5-A762864663F9}"/>
              </a:ext>
            </a:extLst>
          </p:cNvPr>
          <p:cNvSpPr txBox="1"/>
          <p:nvPr/>
        </p:nvSpPr>
        <p:spPr>
          <a:xfrm>
            <a:off x="0" y="604461"/>
            <a:ext cx="2182586" cy="400110"/>
          </a:xfrm>
          <a:prstGeom prst="rect">
            <a:avLst/>
          </a:prstGeom>
          <a:noFill/>
        </p:spPr>
        <p:txBody>
          <a:bodyPr wrap="square">
            <a:spAutoFit/>
          </a:bodyPr>
          <a:lstStyle/>
          <a:p>
            <a:pPr algn="ctr"/>
            <a:r>
              <a:rPr lang="en-US" sz="2000" b="1" dirty="0">
                <a:latin typeface="Berlin Sans FB Demi" panose="020E0802020502020306" pitchFamily="34" charset="0"/>
                <a:ea typeface="SamsungOne 800" panose="020B0903030303020204" pitchFamily="34" charset="0"/>
              </a:rPr>
              <a:t>CLASH OF THE</a:t>
            </a:r>
            <a:endParaRPr lang="en-US" sz="2000" b="1" dirty="0">
              <a:solidFill>
                <a:srgbClr val="E81B25"/>
              </a:solidFill>
              <a:latin typeface="Berlin Sans FB Demi" panose="020E0802020502020306" pitchFamily="34" charset="0"/>
              <a:ea typeface="SamsungOne 800" panose="020B0903030303020204" pitchFamily="34" charset="0"/>
            </a:endParaRPr>
          </a:p>
        </p:txBody>
      </p:sp>
      <p:sp>
        <p:nvSpPr>
          <p:cNvPr id="93" name="TextBox 92">
            <a:extLst>
              <a:ext uri="{FF2B5EF4-FFF2-40B4-BE49-F238E27FC236}">
                <a16:creationId xmlns:a16="http://schemas.microsoft.com/office/drawing/2014/main" id="{52DB02A4-569F-4135-9840-A60286D3E03F}"/>
              </a:ext>
            </a:extLst>
          </p:cNvPr>
          <p:cNvSpPr txBox="1"/>
          <p:nvPr/>
        </p:nvSpPr>
        <p:spPr>
          <a:xfrm>
            <a:off x="1756232" y="436120"/>
            <a:ext cx="2091163" cy="646331"/>
          </a:xfrm>
          <a:prstGeom prst="rect">
            <a:avLst/>
          </a:prstGeom>
          <a:noFill/>
        </p:spPr>
        <p:txBody>
          <a:bodyPr wrap="square">
            <a:spAutoFit/>
          </a:bodyPr>
          <a:lstStyle/>
          <a:p>
            <a:pPr algn="ctr"/>
            <a:r>
              <a:rPr lang="en-US" sz="3600" b="1" dirty="0">
                <a:solidFill>
                  <a:srgbClr val="E81B25"/>
                </a:solidFill>
                <a:latin typeface="Berlin Sans FB Demi" panose="020E0802020502020306" pitchFamily="34" charset="0"/>
                <a:ea typeface="SamsungOne 800" panose="020B0903030303020204" pitchFamily="34" charset="0"/>
              </a:rPr>
              <a:t>CLAWS</a:t>
            </a:r>
            <a:endParaRPr lang="en-IN" sz="3600" dirty="0">
              <a:latin typeface="Berlin Sans FB Demi" panose="020E0802020502020306" pitchFamily="34" charset="0"/>
            </a:endParaRPr>
          </a:p>
        </p:txBody>
      </p:sp>
      <p:sp>
        <p:nvSpPr>
          <p:cNvPr id="100" name="TextBox 99">
            <a:extLst>
              <a:ext uri="{FF2B5EF4-FFF2-40B4-BE49-F238E27FC236}">
                <a16:creationId xmlns:a16="http://schemas.microsoft.com/office/drawing/2014/main" id="{DD060EA0-A6D1-484F-8987-38123CE63233}"/>
              </a:ext>
            </a:extLst>
          </p:cNvPr>
          <p:cNvSpPr txBox="1"/>
          <p:nvPr/>
        </p:nvSpPr>
        <p:spPr>
          <a:xfrm>
            <a:off x="548271" y="1774454"/>
            <a:ext cx="6334668" cy="5078313"/>
          </a:xfrm>
          <a:prstGeom prst="rect">
            <a:avLst/>
          </a:prstGeom>
          <a:noFill/>
        </p:spPr>
        <p:txBody>
          <a:bodyPr wrap="square">
            <a:spAutoFit/>
          </a:bodyPr>
          <a:lstStyle/>
          <a:p>
            <a:pPr algn="ctr">
              <a:lnSpc>
                <a:spcPct val="150000"/>
              </a:lnSpc>
            </a:pPr>
            <a:r>
              <a:rPr lang="en-US" sz="3200" b="1" dirty="0">
                <a:solidFill>
                  <a:srgbClr val="E81B25"/>
                </a:solidFill>
                <a:latin typeface="Berlin Sans FB Demi" panose="020E0802020502020306" pitchFamily="34" charset="0"/>
                <a:ea typeface="SamsungOne 800" panose="020B0903030303020204" pitchFamily="34" charset="0"/>
              </a:rPr>
              <a:t>Ramaiah Institute Of Technology</a:t>
            </a:r>
          </a:p>
          <a:p>
            <a:pPr algn="ctr"/>
            <a:r>
              <a:rPr lang="en-US" sz="4400" b="1" dirty="0" err="1">
                <a:solidFill>
                  <a:srgbClr val="E81B25"/>
                </a:solidFill>
                <a:latin typeface="Berlin Sans FB Demi" panose="020E0802020502020306" pitchFamily="34" charset="0"/>
                <a:ea typeface="SamsungOne 800" panose="020B0903030303020204" pitchFamily="34" charset="0"/>
              </a:rPr>
              <a:t>AgentXecution</a:t>
            </a:r>
            <a:endParaRPr lang="en-US" sz="4400" b="1" dirty="0">
              <a:solidFill>
                <a:srgbClr val="E81B25"/>
              </a:solidFill>
              <a:latin typeface="Berlin Sans FB Demi" panose="020E0802020502020306" pitchFamily="34" charset="0"/>
              <a:ea typeface="SamsungOne 800" panose="020B0903030303020204" pitchFamily="34" charset="0"/>
            </a:endParaRPr>
          </a:p>
          <a:p>
            <a:pPr algn="ctr"/>
            <a:r>
              <a:rPr lang="en-US" sz="2400" b="1" dirty="0">
                <a:solidFill>
                  <a:srgbClr val="E81B25"/>
                </a:solidFill>
                <a:latin typeface="Berlin Sans FB Demi" panose="020E0802020502020306" pitchFamily="34" charset="0"/>
                <a:ea typeface="SamsungOne 800" panose="020B0903030303020204" pitchFamily="34" charset="0"/>
              </a:rPr>
              <a:t>AI Multi-Agent Execution Operating System</a:t>
            </a:r>
          </a:p>
          <a:p>
            <a:pPr algn="ctr"/>
            <a:endParaRPr lang="en-US" sz="2400" b="1" dirty="0">
              <a:solidFill>
                <a:srgbClr val="E81B25"/>
              </a:solidFill>
              <a:latin typeface="Berlin Sans FB Demi" panose="020E0802020502020306" pitchFamily="34" charset="0"/>
              <a:ea typeface="SamsungOne 800" panose="020B0903030303020204" pitchFamily="34" charset="0"/>
            </a:endParaRPr>
          </a:p>
          <a:p>
            <a:pPr algn="ctr"/>
            <a:endParaRPr lang="en-US" sz="2000" b="1" dirty="0">
              <a:solidFill>
                <a:srgbClr val="E81B25"/>
              </a:solidFill>
              <a:latin typeface="Berlin Sans FB Demi" panose="020E0802020502020306" pitchFamily="34" charset="0"/>
              <a:ea typeface="SamsungOne 800" panose="020B0903030303020204" pitchFamily="34" charset="0"/>
            </a:endParaRPr>
          </a:p>
          <a:p>
            <a:r>
              <a:rPr lang="en-US" sz="2800" b="1" dirty="0">
                <a:solidFill>
                  <a:schemeClr val="tx2"/>
                </a:solidFill>
                <a:latin typeface="Berlin Sans FB Demi" panose="020E0802020502020306" pitchFamily="34" charset="0"/>
                <a:ea typeface="SamsungOne 800" panose="020B0903030303020204" pitchFamily="34" charset="0"/>
              </a:rPr>
              <a:t>Pooja N</a:t>
            </a:r>
          </a:p>
          <a:p>
            <a:r>
              <a:rPr lang="en-US" sz="2800" b="1" dirty="0">
                <a:solidFill>
                  <a:schemeClr val="tx2"/>
                </a:solidFill>
                <a:latin typeface="Berlin Sans FB Demi" panose="020E0802020502020306" pitchFamily="34" charset="0"/>
                <a:ea typeface="SamsungOne 800" panose="020B0903030303020204" pitchFamily="34" charset="0"/>
              </a:rPr>
              <a:t>Mandhara N</a:t>
            </a:r>
          </a:p>
          <a:p>
            <a:r>
              <a:rPr lang="en-US" sz="2800" b="1" dirty="0">
                <a:solidFill>
                  <a:schemeClr val="tx2"/>
                </a:solidFill>
                <a:latin typeface="Berlin Sans FB Demi" panose="020E0802020502020306" pitchFamily="34" charset="0"/>
                <a:ea typeface="SamsungOne 800" panose="020B0903030303020204" pitchFamily="34" charset="0"/>
              </a:rPr>
              <a:t>Pritika Singh</a:t>
            </a:r>
          </a:p>
          <a:p>
            <a:r>
              <a:rPr lang="en-US" sz="2800" b="1" dirty="0">
                <a:solidFill>
                  <a:schemeClr val="tx2"/>
                </a:solidFill>
                <a:latin typeface="Berlin Sans FB Demi" panose="020E0802020502020306" pitchFamily="34" charset="0"/>
                <a:ea typeface="SamsungOne 800" panose="020B0903030303020204" pitchFamily="34" charset="0"/>
              </a:rPr>
              <a:t>Ritika Verma</a:t>
            </a:r>
            <a:br>
              <a:rPr lang="en-US" sz="4000" b="1" dirty="0">
                <a:solidFill>
                  <a:schemeClr val="tx2"/>
                </a:solidFill>
                <a:latin typeface="Berlin Sans FB Demi" panose="020E0802020502020306" pitchFamily="34" charset="0"/>
                <a:ea typeface="SamsungOne 800" panose="020B0903030303020204" pitchFamily="34" charset="0"/>
              </a:rPr>
            </a:br>
            <a:endParaRPr lang="en-US" sz="4000" b="1" dirty="0">
              <a:solidFill>
                <a:schemeClr val="tx2"/>
              </a:solidFill>
              <a:latin typeface="Berlin Sans FB Demi" panose="020E0802020502020306" pitchFamily="34" charset="0"/>
              <a:ea typeface="SamsungOne 800" panose="020B0903030303020204" pitchFamily="34" charset="0"/>
            </a:endParaRPr>
          </a:p>
        </p:txBody>
      </p:sp>
      <p:grpSp>
        <p:nvGrpSpPr>
          <p:cNvPr id="2" name="Group 1">
            <a:extLst>
              <a:ext uri="{FF2B5EF4-FFF2-40B4-BE49-F238E27FC236}">
                <a16:creationId xmlns:a16="http://schemas.microsoft.com/office/drawing/2014/main" id="{8263B24E-BBCD-4BAC-9AEF-81547E82C9E5}"/>
              </a:ext>
            </a:extLst>
          </p:cNvPr>
          <p:cNvGrpSpPr/>
          <p:nvPr/>
        </p:nvGrpSpPr>
        <p:grpSpPr>
          <a:xfrm>
            <a:off x="137355" y="46746"/>
            <a:ext cx="3814159" cy="639045"/>
            <a:chOff x="137355" y="133834"/>
            <a:chExt cx="3814159" cy="639045"/>
          </a:xfrm>
        </p:grpSpPr>
        <p:pic>
          <p:nvPicPr>
            <p:cNvPr id="21" name="Picture 20">
              <a:extLst>
                <a:ext uri="{FF2B5EF4-FFF2-40B4-BE49-F238E27FC236}">
                  <a16:creationId xmlns:a16="http://schemas.microsoft.com/office/drawing/2014/main" id="{3C9D2D8C-378C-4311-B59D-9891D5378E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355" y="133834"/>
              <a:ext cx="974396" cy="639045"/>
            </a:xfrm>
            <a:prstGeom prst="rect">
              <a:avLst/>
            </a:prstGeom>
          </p:spPr>
        </p:pic>
        <p:sp>
          <p:nvSpPr>
            <p:cNvPr id="7" name="TextBox 6">
              <a:extLst>
                <a:ext uri="{FF2B5EF4-FFF2-40B4-BE49-F238E27FC236}">
                  <a16:creationId xmlns:a16="http://schemas.microsoft.com/office/drawing/2014/main" id="{5AA001E0-3B05-4E97-9F59-DA7472558885}"/>
                </a:ext>
              </a:extLst>
            </p:cNvPr>
            <p:cNvSpPr txBox="1"/>
            <p:nvPr/>
          </p:nvSpPr>
          <p:spPr>
            <a:xfrm>
              <a:off x="1017814" y="244337"/>
              <a:ext cx="2933700" cy="369332"/>
            </a:xfrm>
            <a:prstGeom prst="rect">
              <a:avLst/>
            </a:prstGeom>
            <a:noFill/>
          </p:spPr>
          <p:txBody>
            <a:bodyPr wrap="square">
              <a:spAutoFit/>
            </a:bodyPr>
            <a:lstStyle/>
            <a:p>
              <a:pPr algn="ctr"/>
              <a:r>
                <a:rPr lang="en-US" b="1" dirty="0">
                  <a:latin typeface="Berlin Sans FB Demi" panose="020E0802020502020306" pitchFamily="34" charset="0"/>
                  <a:ea typeface="SamsungOne 800" panose="020B0903030303020204" pitchFamily="34" charset="0"/>
                </a:rPr>
                <a:t>| Tech Management, SRI-B</a:t>
              </a:r>
              <a:endParaRPr lang="en-US" b="1" dirty="0">
                <a:solidFill>
                  <a:srgbClr val="E81B25"/>
                </a:solidFill>
                <a:latin typeface="Berlin Sans FB Demi" panose="020E0802020502020306" pitchFamily="34" charset="0"/>
                <a:ea typeface="SamsungOne 800" panose="020B0903030303020204" pitchFamily="34" charset="0"/>
              </a:endParaRPr>
            </a:p>
          </p:txBody>
        </p:sp>
      </p:grpSp>
    </p:spTree>
    <p:extLst>
      <p:ext uri="{BB962C8B-B14F-4D97-AF65-F5344CB8AC3E}">
        <p14:creationId xmlns:p14="http://schemas.microsoft.com/office/powerpoint/2010/main" val="2354731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Problem Statement</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609600" y="1524000"/>
            <a:ext cx="10612582" cy="3139321"/>
          </a:xfrm>
          <a:prstGeom prst="rect">
            <a:avLst/>
          </a:prstGeom>
          <a:noFill/>
        </p:spPr>
        <p:txBody>
          <a:bodyPr wrap="square" rtlCol="0">
            <a:spAutoFit/>
          </a:bodyPr>
          <a:lstStyle/>
          <a:p>
            <a:endParaRPr lang="en-US" dirty="0"/>
          </a:p>
          <a:p>
            <a:r>
              <a:rPr lang="en-US" dirty="0">
                <a:solidFill>
                  <a:srgbClr val="1E1E1E"/>
                </a:solidFill>
              </a:rPr>
              <a:t>“In student projects, hackathons, and team meetings, tasks are often discussed verbally but later forgotten, delayed, or manually tracked across chats and notes. Teams spend more time coordinating work than actually executing it.”
We selected the On-device Productivity + GenAI theme because we wanted to solve a real workflow problem faced during collaborative projects. </a:t>
            </a:r>
            <a:r>
              <a:rPr lang="en-US" dirty="0" err="1">
                <a:solidFill>
                  <a:srgbClr val="1E1E1E"/>
                </a:solidFill>
              </a:rPr>
              <a:t>AgentXecution</a:t>
            </a:r>
            <a:r>
              <a:rPr lang="en-US" dirty="0">
                <a:solidFill>
                  <a:srgbClr val="1E1E1E"/>
                </a:solidFill>
              </a:rPr>
              <a:t> converts meeting conversations into structured tasks, smart assignments, risk predictions, and continuously monitored workflows using an OpenClaw-inspired multi-agent AI system.
Target users include student teams, startup teams, project managers, and remote collaboration groups.</a:t>
            </a:r>
          </a:p>
        </p:txBody>
      </p:sp>
    </p:spTree>
    <p:extLst>
      <p:ext uri="{BB962C8B-B14F-4D97-AF65-F5344CB8AC3E}">
        <p14:creationId xmlns:p14="http://schemas.microsoft.com/office/powerpoint/2010/main" val="1451803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Current Solution &amp; Gaps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9301279" cy="4247317"/>
          </a:xfrm>
          <a:prstGeom prst="rect">
            <a:avLst/>
          </a:prstGeom>
          <a:noFill/>
        </p:spPr>
        <p:txBody>
          <a:bodyPr wrap="square" rtlCol="0">
            <a:spAutoFit/>
          </a:bodyPr>
          <a:lstStyle/>
          <a:p>
            <a:r>
              <a:rPr lang="en-US" dirty="0">
                <a:solidFill>
                  <a:srgbClr val="1E1E1E"/>
                </a:solidFill>
              </a:rPr>
              <a:t>Most existing meeting tools focus only on transcription or note-taking. They capture conversations but do not actively execute workflows, predict delays, monitor risks, or manage task ownership intelligently.
Current solutions:
• Meeting transcription tools
• Notes and productivity apps
• Manual Trello/Notion workflows
What is missing:
• Autonomous execution
• AI-driven workflow monitoring
• Smart reassignment and risk prediction
• Continuous task tracking</a:t>
            </a: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a:latin typeface="Calibri" pitchFamily="34" charset="0"/>
                <a:ea typeface="Calibri" pitchFamily="34" charset="-122"/>
                <a:cs typeface="Calibri" pitchFamily="34" charset="-120"/>
              </a:rPr>
              <a:t>Our Solution</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9816668" cy="3970318"/>
          </a:xfrm>
          <a:prstGeom prst="rect">
            <a:avLst/>
          </a:prstGeom>
          <a:noFill/>
        </p:spPr>
        <p:txBody>
          <a:bodyPr wrap="square" rtlCol="0">
            <a:spAutoFit/>
          </a:bodyPr>
          <a:lstStyle/>
          <a:p>
            <a:r>
              <a:rPr lang="en-US" dirty="0" err="1">
                <a:solidFill>
                  <a:srgbClr val="1E1E1E"/>
                </a:solidFill>
              </a:rPr>
              <a:t>AgentXecution</a:t>
            </a:r>
            <a:r>
              <a:rPr lang="en-US" dirty="0">
                <a:solidFill>
                  <a:srgbClr val="1E1E1E"/>
                </a:solidFill>
              </a:rPr>
              <a:t> is an OpenClaw-inspired AI multi-agent execution system that listens to meetings, extracts tasks, predicts risks, assigns work intelligently, monitors progress continuously, and assists teams in completing workflows autonomously.
Key Features:
• Voice-to-task execution
• Automatic task extraction
• Deadline &amp; owner detection
• Multi-agent orchestration
• Risk prediction engine
• Delay probability analysis
• Smart reassignment
• Undo/history system</a:t>
            </a:r>
          </a:p>
          <a:p>
            <a:endParaRPr lang="en-IN" dirty="0"/>
          </a:p>
        </p:txBody>
      </p:sp>
    </p:spTree>
    <p:extLst>
      <p:ext uri="{BB962C8B-B14F-4D97-AF65-F5344CB8AC3E}">
        <p14:creationId xmlns:p14="http://schemas.microsoft.com/office/powerpoint/2010/main" val="1005258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560832"/>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Demo/Product Walkthrough</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36008" y="1368958"/>
            <a:ext cx="10232304" cy="646331"/>
          </a:xfrm>
          <a:prstGeom prst="rect">
            <a:avLst/>
          </a:prstGeom>
          <a:noFill/>
        </p:spPr>
        <p:txBody>
          <a:bodyPr wrap="square" rtlCol="0">
            <a:spAutoFit/>
          </a:bodyPr>
          <a:lstStyle/>
          <a:p>
            <a:r>
              <a:rPr lang="en-US" b="1" dirty="0">
                <a:solidFill>
                  <a:srgbClr val="1E1E1E"/>
                </a:solidFill>
              </a:rPr>
              <a:t>Meeting Input</a:t>
            </a:r>
          </a:p>
          <a:p>
            <a:r>
              <a:rPr lang="en-US" dirty="0">
                <a:solidFill>
                  <a:srgbClr val="1E1E1E"/>
                </a:solidFill>
              </a:rPr>
              <a:t>- User provides meeting transcript through text or voice.</a:t>
            </a:r>
            <a:endParaRPr lang="en-IN" dirty="0"/>
          </a:p>
        </p:txBody>
      </p:sp>
      <p:pic>
        <p:nvPicPr>
          <p:cNvPr id="16" name="Picture 15">
            <a:extLst>
              <a:ext uri="{FF2B5EF4-FFF2-40B4-BE49-F238E27FC236}">
                <a16:creationId xmlns:a16="http://schemas.microsoft.com/office/drawing/2014/main" id="{82C1AFA2-9768-CC31-4525-509F825CDAEC}"/>
              </a:ext>
            </a:extLst>
          </p:cNvPr>
          <p:cNvPicPr>
            <a:picLocks noChangeAspect="1"/>
          </p:cNvPicPr>
          <p:nvPr/>
        </p:nvPicPr>
        <p:blipFill>
          <a:blip r:embed="rId3"/>
          <a:stretch>
            <a:fillRect/>
          </a:stretch>
        </p:blipFill>
        <p:spPr>
          <a:xfrm>
            <a:off x="937954" y="2159018"/>
            <a:ext cx="9694026" cy="4538016"/>
          </a:xfrm>
          <a:prstGeom prst="rect">
            <a:avLst/>
          </a:prstGeom>
        </p:spPr>
      </p:pic>
    </p:spTree>
    <p:extLst>
      <p:ext uri="{BB962C8B-B14F-4D97-AF65-F5344CB8AC3E}">
        <p14:creationId xmlns:p14="http://schemas.microsoft.com/office/powerpoint/2010/main" val="452960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61ACA-C98D-A8B6-35A4-54A2B880FF0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BFE0FD2-B004-F8B0-3221-8FA7672BC5E4}"/>
              </a:ext>
            </a:extLst>
          </p:cNvPr>
          <p:cNvPicPr>
            <a:picLocks noChangeAspect="1"/>
          </p:cNvPicPr>
          <p:nvPr/>
        </p:nvPicPr>
        <p:blipFill>
          <a:blip r:embed="rId3"/>
          <a:stretch>
            <a:fillRect/>
          </a:stretch>
        </p:blipFill>
        <p:spPr>
          <a:xfrm>
            <a:off x="937954" y="2159018"/>
            <a:ext cx="9694026" cy="4531957"/>
          </a:xfrm>
          <a:prstGeom prst="rect">
            <a:avLst/>
          </a:prstGeom>
        </p:spPr>
      </p:pic>
      <p:sp>
        <p:nvSpPr>
          <p:cNvPr id="2" name="Shape 0">
            <a:extLst>
              <a:ext uri="{FF2B5EF4-FFF2-40B4-BE49-F238E27FC236}">
                <a16:creationId xmlns:a16="http://schemas.microsoft.com/office/drawing/2014/main" id="{9C2806E6-F55A-C1DF-E517-E45DD01B503D}"/>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1C2BFCA6-A072-CF5F-D52A-3991FF88370E}"/>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95468B96-88A6-2714-422F-D000FF3B83BE}"/>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1BFDAC64-5A34-5D9E-44D5-E2EDE1E7393F}"/>
              </a:ext>
            </a:extLst>
          </p:cNvPr>
          <p:cNvSpPr/>
          <p:nvPr/>
        </p:nvSpPr>
        <p:spPr>
          <a:xfrm>
            <a:off x="609600" y="578248"/>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Demo/Product Walkthrough</a:t>
            </a:r>
            <a:endParaRPr lang="en-US" sz="4267" dirty="0"/>
          </a:p>
        </p:txBody>
      </p:sp>
      <p:sp>
        <p:nvSpPr>
          <p:cNvPr id="18" name="Text 1">
            <a:extLst>
              <a:ext uri="{FF2B5EF4-FFF2-40B4-BE49-F238E27FC236}">
                <a16:creationId xmlns:a16="http://schemas.microsoft.com/office/drawing/2014/main" id="{81926B1B-45B1-2B86-C099-0976047BBC3B}"/>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59453475-FBBE-F77E-79A5-75FB25287EF2}"/>
              </a:ext>
            </a:extLst>
          </p:cNvPr>
          <p:cNvSpPr txBox="1"/>
          <p:nvPr/>
        </p:nvSpPr>
        <p:spPr>
          <a:xfrm>
            <a:off x="740496" y="1395928"/>
            <a:ext cx="10232304" cy="646331"/>
          </a:xfrm>
          <a:prstGeom prst="rect">
            <a:avLst/>
          </a:prstGeom>
          <a:noFill/>
        </p:spPr>
        <p:txBody>
          <a:bodyPr wrap="square" rtlCol="0">
            <a:spAutoFit/>
          </a:bodyPr>
          <a:lstStyle/>
          <a:p>
            <a:r>
              <a:rPr lang="en-US" dirty="0">
                <a:solidFill>
                  <a:srgbClr val="1E1E1E"/>
                </a:solidFill>
              </a:rPr>
              <a:t>Multi-Agent  Activation</a:t>
            </a:r>
          </a:p>
          <a:p>
            <a:r>
              <a:rPr lang="en-IN" dirty="0"/>
              <a:t>- Listener, Planner, Risk, Reviewer and Executor Agents collaboratively process workflow</a:t>
            </a:r>
          </a:p>
        </p:txBody>
      </p:sp>
    </p:spTree>
    <p:extLst>
      <p:ext uri="{BB962C8B-B14F-4D97-AF65-F5344CB8AC3E}">
        <p14:creationId xmlns:p14="http://schemas.microsoft.com/office/powerpoint/2010/main" val="1573449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A743B-0DC3-43F7-882E-02B5687F7861}"/>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F9F752AC-395A-FB95-C257-29EEB411BF32}"/>
              </a:ext>
            </a:extLst>
          </p:cNvPr>
          <p:cNvPicPr>
            <a:picLocks noChangeAspect="1"/>
          </p:cNvPicPr>
          <p:nvPr/>
        </p:nvPicPr>
        <p:blipFill>
          <a:blip r:embed="rId3"/>
          <a:stretch>
            <a:fillRect/>
          </a:stretch>
        </p:blipFill>
        <p:spPr>
          <a:xfrm>
            <a:off x="1005147" y="2172079"/>
            <a:ext cx="9694026" cy="4580428"/>
          </a:xfrm>
          <a:prstGeom prst="rect">
            <a:avLst/>
          </a:prstGeom>
        </p:spPr>
      </p:pic>
      <p:sp>
        <p:nvSpPr>
          <p:cNvPr id="2" name="Shape 0">
            <a:extLst>
              <a:ext uri="{FF2B5EF4-FFF2-40B4-BE49-F238E27FC236}">
                <a16:creationId xmlns:a16="http://schemas.microsoft.com/office/drawing/2014/main" id="{62DC1BB0-4665-08FC-5495-00F44D47CEE7}"/>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5E2043E1-25D2-C587-253C-70BF61FC8128}"/>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D08C7BAC-FFBC-ACEE-F98A-E08B13784162}"/>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6A8D6E48-E47B-E1F3-35CA-136816C4B41A}"/>
              </a:ext>
            </a:extLst>
          </p:cNvPr>
          <p:cNvSpPr/>
          <p:nvPr/>
        </p:nvSpPr>
        <p:spPr>
          <a:xfrm>
            <a:off x="609600" y="578248"/>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Demo/Product Walkthrough</a:t>
            </a:r>
            <a:endParaRPr lang="en-US" sz="4267" dirty="0"/>
          </a:p>
        </p:txBody>
      </p:sp>
      <p:sp>
        <p:nvSpPr>
          <p:cNvPr id="18" name="Text 1">
            <a:extLst>
              <a:ext uri="{FF2B5EF4-FFF2-40B4-BE49-F238E27FC236}">
                <a16:creationId xmlns:a16="http://schemas.microsoft.com/office/drawing/2014/main" id="{3D0012B6-CCFD-A801-400E-72B11653B73D}"/>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1633F9BF-5AD7-BAE7-5F43-4279695EC67F}"/>
              </a:ext>
            </a:extLst>
          </p:cNvPr>
          <p:cNvSpPr txBox="1"/>
          <p:nvPr/>
        </p:nvSpPr>
        <p:spPr>
          <a:xfrm>
            <a:off x="740496" y="1395928"/>
            <a:ext cx="10232304" cy="646331"/>
          </a:xfrm>
          <a:prstGeom prst="rect">
            <a:avLst/>
          </a:prstGeom>
          <a:noFill/>
        </p:spPr>
        <p:txBody>
          <a:bodyPr wrap="square" rtlCol="0">
            <a:spAutoFit/>
          </a:bodyPr>
          <a:lstStyle/>
          <a:p>
            <a:r>
              <a:rPr lang="en-US" dirty="0">
                <a:solidFill>
                  <a:srgbClr val="1E1E1E"/>
                </a:solidFill>
              </a:rPr>
              <a:t>Risk Prediction</a:t>
            </a:r>
          </a:p>
          <a:p>
            <a:r>
              <a:rPr lang="en-IN" dirty="0"/>
              <a:t>- The Risk Agent predicts overloads, delays, and workflow bottlenecks in real-time</a:t>
            </a:r>
          </a:p>
        </p:txBody>
      </p:sp>
    </p:spTree>
    <p:extLst>
      <p:ext uri="{BB962C8B-B14F-4D97-AF65-F5344CB8AC3E}">
        <p14:creationId xmlns:p14="http://schemas.microsoft.com/office/powerpoint/2010/main" val="1416702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38AEF-F2D9-B235-CBE5-2EA4BD2D5F4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99CBC7E1-EED7-056B-9D32-73619379FA76}"/>
              </a:ext>
            </a:extLst>
          </p:cNvPr>
          <p:cNvPicPr>
            <a:picLocks noChangeAspect="1"/>
          </p:cNvPicPr>
          <p:nvPr/>
        </p:nvPicPr>
        <p:blipFill>
          <a:blip r:embed="rId3"/>
          <a:stretch>
            <a:fillRect/>
          </a:stretch>
        </p:blipFill>
        <p:spPr>
          <a:xfrm>
            <a:off x="1005147" y="2200325"/>
            <a:ext cx="9694026" cy="4538016"/>
          </a:xfrm>
          <a:prstGeom prst="rect">
            <a:avLst/>
          </a:prstGeom>
        </p:spPr>
      </p:pic>
      <p:sp>
        <p:nvSpPr>
          <p:cNvPr id="2" name="Shape 0">
            <a:extLst>
              <a:ext uri="{FF2B5EF4-FFF2-40B4-BE49-F238E27FC236}">
                <a16:creationId xmlns:a16="http://schemas.microsoft.com/office/drawing/2014/main" id="{8A7FD431-73F1-5838-B1C0-9429BB3BE6A8}"/>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9D59B48E-53D0-87B9-3A53-A184E37AD314}"/>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FBC9D414-AD0B-CD89-375D-481445E90F13}"/>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7535EF77-7F62-A3A0-30AF-EA3CEADE37A8}"/>
              </a:ext>
            </a:extLst>
          </p:cNvPr>
          <p:cNvSpPr/>
          <p:nvPr/>
        </p:nvSpPr>
        <p:spPr>
          <a:xfrm>
            <a:off x="609600" y="578248"/>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Demo/Product Walkthrough</a:t>
            </a:r>
            <a:endParaRPr lang="en-US" sz="4267" dirty="0"/>
          </a:p>
        </p:txBody>
      </p:sp>
      <p:sp>
        <p:nvSpPr>
          <p:cNvPr id="18" name="Text 1">
            <a:extLst>
              <a:ext uri="{FF2B5EF4-FFF2-40B4-BE49-F238E27FC236}">
                <a16:creationId xmlns:a16="http://schemas.microsoft.com/office/drawing/2014/main" id="{CFACB1DF-AE46-23CF-601E-4000E2BBD45D}"/>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C3DF94DF-A008-6890-0DCB-972F469E5296}"/>
              </a:ext>
            </a:extLst>
          </p:cNvPr>
          <p:cNvSpPr txBox="1"/>
          <p:nvPr/>
        </p:nvSpPr>
        <p:spPr>
          <a:xfrm>
            <a:off x="740496" y="1395928"/>
            <a:ext cx="10232304" cy="646331"/>
          </a:xfrm>
          <a:prstGeom prst="rect">
            <a:avLst/>
          </a:prstGeom>
          <a:noFill/>
        </p:spPr>
        <p:txBody>
          <a:bodyPr wrap="square" rtlCol="0">
            <a:spAutoFit/>
          </a:bodyPr>
          <a:lstStyle/>
          <a:p>
            <a:r>
              <a:rPr lang="en-US" dirty="0">
                <a:solidFill>
                  <a:srgbClr val="1E1E1E"/>
                </a:solidFill>
              </a:rPr>
              <a:t>Task Completion</a:t>
            </a:r>
          </a:p>
          <a:p>
            <a:r>
              <a:rPr lang="en-IN" dirty="0"/>
              <a:t>- Tasks can be tracked, completed and monitored dynamically</a:t>
            </a:r>
          </a:p>
        </p:txBody>
      </p:sp>
    </p:spTree>
    <p:extLst>
      <p:ext uri="{BB962C8B-B14F-4D97-AF65-F5344CB8AC3E}">
        <p14:creationId xmlns:p14="http://schemas.microsoft.com/office/powerpoint/2010/main" val="2412704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13087-26B5-53D3-FF29-A26360CD9FE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85F46C3F-9113-6133-888E-E870E01CE365}"/>
              </a:ext>
            </a:extLst>
          </p:cNvPr>
          <p:cNvPicPr>
            <a:picLocks noChangeAspect="1"/>
          </p:cNvPicPr>
          <p:nvPr/>
        </p:nvPicPr>
        <p:blipFill>
          <a:blip r:embed="rId3"/>
          <a:stretch>
            <a:fillRect/>
          </a:stretch>
        </p:blipFill>
        <p:spPr>
          <a:xfrm>
            <a:off x="1005147" y="2200324"/>
            <a:ext cx="9694026" cy="4534539"/>
          </a:xfrm>
          <a:prstGeom prst="rect">
            <a:avLst/>
          </a:prstGeom>
        </p:spPr>
      </p:pic>
      <p:sp>
        <p:nvSpPr>
          <p:cNvPr id="2" name="Shape 0">
            <a:extLst>
              <a:ext uri="{FF2B5EF4-FFF2-40B4-BE49-F238E27FC236}">
                <a16:creationId xmlns:a16="http://schemas.microsoft.com/office/drawing/2014/main" id="{CB4236A3-5B04-8E93-3EFB-F39C694EFA39}"/>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6C9BC1E6-2389-2439-E06A-A8AC3A669FFB}"/>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09296BB3-DC35-F39C-978C-20C1DDF95365}"/>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F8640FF0-809A-96BC-15A5-74C48C8B888E}"/>
              </a:ext>
            </a:extLst>
          </p:cNvPr>
          <p:cNvSpPr/>
          <p:nvPr/>
        </p:nvSpPr>
        <p:spPr>
          <a:xfrm>
            <a:off x="609600" y="578248"/>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Demo/Product Walkthrough</a:t>
            </a:r>
            <a:endParaRPr lang="en-US" sz="4267" dirty="0"/>
          </a:p>
        </p:txBody>
      </p:sp>
      <p:sp>
        <p:nvSpPr>
          <p:cNvPr id="18" name="Text 1">
            <a:extLst>
              <a:ext uri="{FF2B5EF4-FFF2-40B4-BE49-F238E27FC236}">
                <a16:creationId xmlns:a16="http://schemas.microsoft.com/office/drawing/2014/main" id="{E0888457-4DAA-C19E-25D6-49D2A026263F}"/>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8565D6AC-B815-6195-A15C-0B07ED218B3E}"/>
              </a:ext>
            </a:extLst>
          </p:cNvPr>
          <p:cNvSpPr txBox="1"/>
          <p:nvPr/>
        </p:nvSpPr>
        <p:spPr>
          <a:xfrm>
            <a:off x="740496" y="1395928"/>
            <a:ext cx="10232304" cy="646331"/>
          </a:xfrm>
          <a:prstGeom prst="rect">
            <a:avLst/>
          </a:prstGeom>
          <a:noFill/>
        </p:spPr>
        <p:txBody>
          <a:bodyPr wrap="square" rtlCol="0">
            <a:spAutoFit/>
          </a:bodyPr>
          <a:lstStyle/>
          <a:p>
            <a:r>
              <a:rPr lang="en-US" dirty="0">
                <a:solidFill>
                  <a:srgbClr val="1E1E1E"/>
                </a:solidFill>
              </a:rPr>
              <a:t>Email Approval</a:t>
            </a:r>
          </a:p>
          <a:p>
            <a:r>
              <a:rPr lang="en-IN" dirty="0"/>
              <a:t>- Reviewer Agent prepares AI-generated workflow summaries for approval</a:t>
            </a:r>
          </a:p>
        </p:txBody>
      </p:sp>
    </p:spTree>
    <p:extLst>
      <p:ext uri="{BB962C8B-B14F-4D97-AF65-F5344CB8AC3E}">
        <p14:creationId xmlns:p14="http://schemas.microsoft.com/office/powerpoint/2010/main" val="996245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BCF55-FBE0-E393-EE49-816268E5BDCB}"/>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7B8E2162-1620-8AE9-602A-263376871DB2}"/>
              </a:ext>
            </a:extLst>
          </p:cNvPr>
          <p:cNvPicPr>
            <a:picLocks noChangeAspect="1"/>
          </p:cNvPicPr>
          <p:nvPr/>
        </p:nvPicPr>
        <p:blipFill>
          <a:blip r:embed="rId3"/>
          <a:stretch>
            <a:fillRect/>
          </a:stretch>
        </p:blipFill>
        <p:spPr>
          <a:xfrm>
            <a:off x="1005147" y="2193929"/>
            <a:ext cx="9694026" cy="4536729"/>
          </a:xfrm>
          <a:prstGeom prst="rect">
            <a:avLst/>
          </a:prstGeom>
        </p:spPr>
      </p:pic>
      <p:sp>
        <p:nvSpPr>
          <p:cNvPr id="2" name="Shape 0">
            <a:extLst>
              <a:ext uri="{FF2B5EF4-FFF2-40B4-BE49-F238E27FC236}">
                <a16:creationId xmlns:a16="http://schemas.microsoft.com/office/drawing/2014/main" id="{25104F2A-2864-C196-83E6-6EFB0922A897}"/>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E720F271-E9EF-0099-F9EC-B1114972A3DE}"/>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38306519-BE11-77A7-D8FA-D5EDDA1FBF5A}"/>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8D672D36-15D6-BDD3-9C63-576BB7F46183}"/>
              </a:ext>
            </a:extLst>
          </p:cNvPr>
          <p:cNvSpPr/>
          <p:nvPr/>
        </p:nvSpPr>
        <p:spPr>
          <a:xfrm>
            <a:off x="609600" y="578248"/>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Demo/Product Walkthrough</a:t>
            </a:r>
            <a:endParaRPr lang="en-US" sz="4267" dirty="0"/>
          </a:p>
        </p:txBody>
      </p:sp>
      <p:sp>
        <p:nvSpPr>
          <p:cNvPr id="18" name="Text 1">
            <a:extLst>
              <a:ext uri="{FF2B5EF4-FFF2-40B4-BE49-F238E27FC236}">
                <a16:creationId xmlns:a16="http://schemas.microsoft.com/office/drawing/2014/main" id="{89607D85-65F0-284D-76A1-DF693D45E673}"/>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FCDA0BD6-816F-FB0B-C61E-386F33A19CEC}"/>
              </a:ext>
            </a:extLst>
          </p:cNvPr>
          <p:cNvSpPr txBox="1"/>
          <p:nvPr/>
        </p:nvSpPr>
        <p:spPr>
          <a:xfrm>
            <a:off x="740496" y="1395928"/>
            <a:ext cx="10232304" cy="646331"/>
          </a:xfrm>
          <a:prstGeom prst="rect">
            <a:avLst/>
          </a:prstGeom>
          <a:noFill/>
        </p:spPr>
        <p:txBody>
          <a:bodyPr wrap="square" rtlCol="0">
            <a:spAutoFit/>
          </a:bodyPr>
          <a:lstStyle/>
          <a:p>
            <a:r>
              <a:rPr lang="en-US" dirty="0">
                <a:solidFill>
                  <a:srgbClr val="1E1E1E"/>
                </a:solidFill>
              </a:rPr>
              <a:t>Undo System</a:t>
            </a:r>
          </a:p>
          <a:p>
            <a:r>
              <a:rPr lang="en-IN" dirty="0"/>
              <a:t>- Users can instantly undo the last workflow action</a:t>
            </a:r>
          </a:p>
        </p:txBody>
      </p:sp>
    </p:spTree>
    <p:extLst>
      <p:ext uri="{BB962C8B-B14F-4D97-AF65-F5344CB8AC3E}">
        <p14:creationId xmlns:p14="http://schemas.microsoft.com/office/powerpoint/2010/main" val="45958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21B8C-BE65-90FD-7EBD-82D3EE6F435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1012420B-8069-CF2B-1732-531FB96C2B11}"/>
              </a:ext>
            </a:extLst>
          </p:cNvPr>
          <p:cNvPicPr>
            <a:picLocks noChangeAspect="1"/>
          </p:cNvPicPr>
          <p:nvPr/>
        </p:nvPicPr>
        <p:blipFill>
          <a:blip r:embed="rId3"/>
          <a:stretch>
            <a:fillRect/>
          </a:stretch>
        </p:blipFill>
        <p:spPr>
          <a:xfrm>
            <a:off x="1005147" y="2200611"/>
            <a:ext cx="9694026" cy="4605882"/>
          </a:xfrm>
          <a:prstGeom prst="rect">
            <a:avLst/>
          </a:prstGeom>
        </p:spPr>
      </p:pic>
      <p:sp>
        <p:nvSpPr>
          <p:cNvPr id="2" name="Shape 0">
            <a:extLst>
              <a:ext uri="{FF2B5EF4-FFF2-40B4-BE49-F238E27FC236}">
                <a16:creationId xmlns:a16="http://schemas.microsoft.com/office/drawing/2014/main" id="{47E1D010-E324-33C0-5A1C-83371C82EFCE}"/>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CD388DBA-4F33-6C3D-BBE9-7D55D4F4C81E}"/>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35317506-E834-4B9E-F0B4-01A0ED65B122}"/>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B8430DC0-7DD9-6153-981F-629E88E849E9}"/>
              </a:ext>
            </a:extLst>
          </p:cNvPr>
          <p:cNvSpPr/>
          <p:nvPr/>
        </p:nvSpPr>
        <p:spPr>
          <a:xfrm>
            <a:off x="609600" y="578248"/>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Demo/Product Walkthrough</a:t>
            </a:r>
            <a:endParaRPr lang="en-US" sz="4267" dirty="0"/>
          </a:p>
        </p:txBody>
      </p:sp>
      <p:sp>
        <p:nvSpPr>
          <p:cNvPr id="18" name="Text 1">
            <a:extLst>
              <a:ext uri="{FF2B5EF4-FFF2-40B4-BE49-F238E27FC236}">
                <a16:creationId xmlns:a16="http://schemas.microsoft.com/office/drawing/2014/main" id="{04A53B33-9384-E93A-7998-D31F745678F2}"/>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D8B9E07F-E6BF-3FD6-D489-55F691C8FF76}"/>
              </a:ext>
            </a:extLst>
          </p:cNvPr>
          <p:cNvSpPr txBox="1"/>
          <p:nvPr/>
        </p:nvSpPr>
        <p:spPr>
          <a:xfrm>
            <a:off x="740496" y="1395928"/>
            <a:ext cx="10232304" cy="646331"/>
          </a:xfrm>
          <a:prstGeom prst="rect">
            <a:avLst/>
          </a:prstGeom>
          <a:noFill/>
        </p:spPr>
        <p:txBody>
          <a:bodyPr wrap="square" rtlCol="0">
            <a:spAutoFit/>
          </a:bodyPr>
          <a:lstStyle/>
          <a:p>
            <a:r>
              <a:rPr lang="en-IN" dirty="0"/>
              <a:t>Voice Assistant</a:t>
            </a:r>
          </a:p>
          <a:p>
            <a:r>
              <a:rPr lang="en-IN" dirty="0"/>
              <a:t>- The voice assistant captures spoken meeting instructions</a:t>
            </a:r>
          </a:p>
        </p:txBody>
      </p:sp>
    </p:spTree>
    <p:extLst>
      <p:ext uri="{BB962C8B-B14F-4D97-AF65-F5344CB8AC3E}">
        <p14:creationId xmlns:p14="http://schemas.microsoft.com/office/powerpoint/2010/main" val="2453651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751F7-758B-BDE9-7810-0EDC28E82363}"/>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4B5972E3-F713-3A74-9F6A-EBF67E6C233F}"/>
              </a:ext>
            </a:extLst>
          </p:cNvPr>
          <p:cNvPicPr>
            <a:picLocks noChangeAspect="1"/>
          </p:cNvPicPr>
          <p:nvPr/>
        </p:nvPicPr>
        <p:blipFill>
          <a:blip r:embed="rId3"/>
          <a:stretch>
            <a:fillRect/>
          </a:stretch>
        </p:blipFill>
        <p:spPr>
          <a:xfrm>
            <a:off x="1005147" y="2245071"/>
            <a:ext cx="9694026" cy="4457653"/>
          </a:xfrm>
          <a:prstGeom prst="rect">
            <a:avLst/>
          </a:prstGeom>
        </p:spPr>
      </p:pic>
      <p:sp>
        <p:nvSpPr>
          <p:cNvPr id="2" name="Shape 0">
            <a:extLst>
              <a:ext uri="{FF2B5EF4-FFF2-40B4-BE49-F238E27FC236}">
                <a16:creationId xmlns:a16="http://schemas.microsoft.com/office/drawing/2014/main" id="{677F4670-AFD1-9FD4-36F4-D6797692750E}"/>
              </a:ext>
            </a:extLst>
          </p:cNvPr>
          <p:cNvSpPr/>
          <p:nvPr/>
        </p:nvSpPr>
        <p:spPr>
          <a:xfrm>
            <a:off x="0" y="0"/>
            <a:ext cx="12192000" cy="85344"/>
          </a:xfrm>
          <a:prstGeom prst="rect">
            <a:avLst/>
          </a:prstGeom>
          <a:solidFill>
            <a:srgbClr val="00B4D8"/>
          </a:solidFill>
          <a:ln w="12700">
            <a:solidFill>
              <a:srgbClr val="00B4D8"/>
            </a:solidFill>
            <a:prstDash val="solid"/>
          </a:ln>
        </p:spPr>
      </p:sp>
      <p:sp>
        <p:nvSpPr>
          <p:cNvPr id="3" name="Shape 1">
            <a:extLst>
              <a:ext uri="{FF2B5EF4-FFF2-40B4-BE49-F238E27FC236}">
                <a16:creationId xmlns:a16="http://schemas.microsoft.com/office/drawing/2014/main" id="{F86D4016-B9F6-E958-E8A2-50597E776A54}"/>
              </a:ext>
            </a:extLst>
          </p:cNvPr>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a:extLst>
              <a:ext uri="{FF2B5EF4-FFF2-40B4-BE49-F238E27FC236}">
                <a16:creationId xmlns:a16="http://schemas.microsoft.com/office/drawing/2014/main" id="{AB0358EB-CCD3-F0B1-428D-02BCC2F74591}"/>
              </a:ext>
            </a:extLst>
          </p:cNvPr>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a:extLst>
              <a:ext uri="{FF2B5EF4-FFF2-40B4-BE49-F238E27FC236}">
                <a16:creationId xmlns:a16="http://schemas.microsoft.com/office/drawing/2014/main" id="{930E67AE-3E1D-93BD-4800-A7C6F7156A47}"/>
              </a:ext>
            </a:extLst>
          </p:cNvPr>
          <p:cNvSpPr/>
          <p:nvPr/>
        </p:nvSpPr>
        <p:spPr>
          <a:xfrm>
            <a:off x="609600" y="578248"/>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Demo/Product Walkthrough</a:t>
            </a:r>
            <a:endParaRPr lang="en-US" sz="4267" dirty="0"/>
          </a:p>
        </p:txBody>
      </p:sp>
      <p:sp>
        <p:nvSpPr>
          <p:cNvPr id="18" name="Text 1">
            <a:extLst>
              <a:ext uri="{FF2B5EF4-FFF2-40B4-BE49-F238E27FC236}">
                <a16:creationId xmlns:a16="http://schemas.microsoft.com/office/drawing/2014/main" id="{C6C7327F-05B9-DB04-F112-D925D80AE62D}"/>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77DFC690-718F-BDD8-4314-2C68563A00D1}"/>
              </a:ext>
            </a:extLst>
          </p:cNvPr>
          <p:cNvSpPr txBox="1"/>
          <p:nvPr/>
        </p:nvSpPr>
        <p:spPr>
          <a:xfrm>
            <a:off x="740496" y="1395928"/>
            <a:ext cx="10232304" cy="646331"/>
          </a:xfrm>
          <a:prstGeom prst="rect">
            <a:avLst/>
          </a:prstGeom>
          <a:noFill/>
        </p:spPr>
        <p:txBody>
          <a:bodyPr wrap="square" rtlCol="0">
            <a:spAutoFit/>
          </a:bodyPr>
          <a:lstStyle/>
          <a:p>
            <a:r>
              <a:rPr lang="en-IN" dirty="0"/>
              <a:t>Live Voice Input</a:t>
            </a:r>
          </a:p>
          <a:p>
            <a:r>
              <a:rPr lang="en-IN" dirty="0"/>
              <a:t>- Speech-To-Text converts voice conversations directly into actionable tasks</a:t>
            </a:r>
          </a:p>
        </p:txBody>
      </p:sp>
    </p:spTree>
    <p:extLst>
      <p:ext uri="{BB962C8B-B14F-4D97-AF65-F5344CB8AC3E}">
        <p14:creationId xmlns:p14="http://schemas.microsoft.com/office/powerpoint/2010/main" val="171561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542488"/>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Tech &amp; Architecture</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611317" y="1342350"/>
            <a:ext cx="10481686" cy="5539978"/>
          </a:xfrm>
          <a:prstGeom prst="rect">
            <a:avLst/>
          </a:prstGeom>
          <a:noFill/>
        </p:spPr>
        <p:txBody>
          <a:bodyPr wrap="square" rtlCol="0">
            <a:spAutoFit/>
          </a:bodyPr>
          <a:lstStyle/>
          <a:p>
            <a:r>
              <a:rPr lang="en-GB" sz="1600" b="1" dirty="0"/>
              <a:t>Frontend:</a:t>
            </a:r>
            <a:r>
              <a:rPr lang="en-GB" sz="1600" dirty="0"/>
              <a:t>
• React.js
• Vite
• JavaScript
</a:t>
            </a:r>
            <a:r>
              <a:rPr lang="en-GB" sz="1600" b="1" dirty="0"/>
              <a:t>Backend:</a:t>
            </a:r>
            <a:r>
              <a:rPr lang="en-GB" sz="1600" dirty="0"/>
              <a:t>
• </a:t>
            </a:r>
            <a:r>
              <a:rPr lang="en-GB" sz="1600" dirty="0" err="1"/>
              <a:t>FastAPI</a:t>
            </a:r>
            <a:r>
              <a:rPr lang="en-GB" sz="1600" dirty="0"/>
              <a:t>
• Python
</a:t>
            </a:r>
            <a:r>
              <a:rPr lang="en-GB" sz="1600" b="1" dirty="0"/>
              <a:t>AI Layer:</a:t>
            </a:r>
            <a:r>
              <a:rPr lang="en-GB" sz="1600" dirty="0"/>
              <a:t>
• OpenClaw-inspired multi-agent orchestration
• Natural language command engine
• Workflow prediction system
</a:t>
            </a:r>
            <a:r>
              <a:rPr lang="en-GB" sz="1600" b="1" dirty="0"/>
              <a:t>Memory + Monitoring:</a:t>
            </a:r>
            <a:r>
              <a:rPr lang="en-GB" sz="1600" dirty="0"/>
              <a:t>
• JSON memory system
• Heartbeat engine
• Action logs + history tracking
</a:t>
            </a:r>
            <a:r>
              <a:rPr lang="en-GB" sz="1600" b="1" dirty="0"/>
              <a:t>Workflow:</a:t>
            </a:r>
            <a:r>
              <a:rPr lang="en-GB" sz="1600" dirty="0"/>
              <a:t>
Voice/Text Input → Agents → Risk Analysis → Execution → Monitoring Dashboard</a:t>
            </a:r>
          </a:p>
          <a:p>
            <a:endParaRPr lang="en-IN" sz="1600" dirty="0"/>
          </a:p>
        </p:txBody>
      </p:sp>
    </p:spTree>
    <p:extLst>
      <p:ext uri="{BB962C8B-B14F-4D97-AF65-F5344CB8AC3E}">
        <p14:creationId xmlns:p14="http://schemas.microsoft.com/office/powerpoint/2010/main" val="56678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Impact &amp; Use cases</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36008" y="1865825"/>
            <a:ext cx="10232304" cy="3693319"/>
          </a:xfrm>
          <a:prstGeom prst="rect">
            <a:avLst/>
          </a:prstGeom>
          <a:noFill/>
        </p:spPr>
        <p:txBody>
          <a:bodyPr wrap="square" rtlCol="0">
            <a:spAutoFit/>
          </a:bodyPr>
          <a:lstStyle/>
          <a:p>
            <a:r>
              <a:rPr lang="en-US" dirty="0" err="1"/>
              <a:t>AgentXecution</a:t>
            </a:r>
            <a:r>
              <a:rPr lang="en-US" dirty="0"/>
              <a:t> is designed for environments where execution gaps after meetings lead to delays and coordination overhead.
Use Cases:
• Student hackathon/project teams
• Startup workflow management
• Corporate execution tracking
• Remote collaboration environments
Future Scope:
• Calendar integrations
• Slack/Teams integrations
• Enterprise workflow automation</a:t>
            </a:r>
          </a:p>
        </p:txBody>
      </p:sp>
    </p:spTree>
    <p:extLst>
      <p:ext uri="{BB962C8B-B14F-4D97-AF65-F5344CB8AC3E}">
        <p14:creationId xmlns:p14="http://schemas.microsoft.com/office/powerpoint/2010/main" val="2277358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Differentiation</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9725228" cy="3139321"/>
          </a:xfrm>
          <a:prstGeom prst="rect">
            <a:avLst/>
          </a:prstGeom>
          <a:noFill/>
        </p:spPr>
        <p:txBody>
          <a:bodyPr wrap="square" rtlCol="0">
            <a:spAutoFit/>
          </a:bodyPr>
          <a:lstStyle/>
          <a:p>
            <a:r>
              <a:rPr lang="en-US" dirty="0">
                <a:solidFill>
                  <a:srgbClr val="1E1E1E"/>
                </a:solidFill>
              </a:rPr>
              <a:t>Most meeting tools only transcribe and summarize conversations.
</a:t>
            </a:r>
            <a:r>
              <a:rPr lang="en-US" dirty="0" err="1">
                <a:solidFill>
                  <a:srgbClr val="1E1E1E"/>
                </a:solidFill>
              </a:rPr>
              <a:t>AgentXecution</a:t>
            </a:r>
            <a:r>
              <a:rPr lang="en-US" dirty="0">
                <a:solidFill>
                  <a:srgbClr val="1E1E1E"/>
                </a:solidFill>
              </a:rPr>
              <a:t> extracts, predicts, monitors, coordinates, and executes workflows autonomously using AI coordination</a:t>
            </a:r>
          </a:p>
          <a:p>
            <a:endParaRPr lang="en-US" dirty="0">
              <a:solidFill>
                <a:srgbClr val="1E1E1E"/>
              </a:solidFill>
            </a:endParaRPr>
          </a:p>
          <a:p>
            <a:r>
              <a:rPr lang="en-US" b="1" dirty="0"/>
              <a:t>Key Differentiators:</a:t>
            </a:r>
            <a:r>
              <a:rPr lang="en-US" dirty="0"/>
              <a:t>
• </a:t>
            </a:r>
            <a:r>
              <a:rPr lang="en-US" dirty="0" err="1"/>
              <a:t>OpenClaw</a:t>
            </a:r>
            <a:r>
              <a:rPr lang="en-US" dirty="0"/>
              <a:t>-style multi-agent architecture
• Execution intelligence instead of passive notes
• Risk prediction + workload balancing
• Continuous heartbeat monitoring
• Natural language workflow control</a:t>
            </a:r>
            <a:endParaRPr lang="en-IN" dirty="0"/>
          </a:p>
        </p:txBody>
      </p:sp>
    </p:spTree>
    <p:extLst>
      <p:ext uri="{BB962C8B-B14F-4D97-AF65-F5344CB8AC3E}">
        <p14:creationId xmlns:p14="http://schemas.microsoft.com/office/powerpoint/2010/main" val="1746425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Demo Link</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11055264" cy="3416320"/>
          </a:xfrm>
          <a:prstGeom prst="rect">
            <a:avLst/>
          </a:prstGeom>
          <a:noFill/>
        </p:spPr>
        <p:txBody>
          <a:bodyPr wrap="square" rtlCol="0">
            <a:spAutoFit/>
          </a:bodyPr>
          <a:lstStyle/>
          <a:p>
            <a:r>
              <a:rPr lang="en-IN" dirty="0"/>
              <a:t>GitHub Repo:</a:t>
            </a:r>
          </a:p>
          <a:p>
            <a:endParaRPr lang="en-IN" dirty="0"/>
          </a:p>
          <a:p>
            <a:r>
              <a:rPr lang="en-IN" dirty="0"/>
              <a:t>https://github.com/poojanagaraj25/AgentXecution</a:t>
            </a:r>
          </a:p>
          <a:p>
            <a:br>
              <a:rPr lang="en-IN" dirty="0"/>
            </a:br>
            <a:r>
              <a:rPr lang="en-IN" dirty="0"/>
              <a:t>Demo Link:</a:t>
            </a:r>
          </a:p>
          <a:p>
            <a:endParaRPr lang="en-IN" dirty="0"/>
          </a:p>
          <a:p>
            <a:r>
              <a:rPr lang="en-IN" dirty="0">
                <a:hlinkClick r:id="rId3"/>
              </a:rPr>
              <a:t>https://drive.google.com/file/d/1NCPm3OpwBVc7nBl-BSozBqMca55HINry/view?usp=sharing</a:t>
            </a:r>
            <a:endParaRPr lang="en-IN" dirty="0"/>
          </a:p>
          <a:p>
            <a:endParaRPr lang="en-IN" dirty="0"/>
          </a:p>
          <a:p>
            <a:br>
              <a:rPr lang="en-IN" dirty="0"/>
            </a:br>
            <a:r>
              <a:rPr lang="en-IN" dirty="0"/>
              <a:t>Document submitted:</a:t>
            </a:r>
          </a:p>
          <a:p>
            <a:endParaRPr lang="en-IN" dirty="0"/>
          </a:p>
          <a:p>
            <a:r>
              <a:rPr lang="en-IN"/>
              <a:t>https://drive.google.com/drive/folders/1XZh96-wtim6Y-J4eSeysPsJJ7TbKCfdb?usp=sharing</a:t>
            </a:r>
            <a:endParaRPr lang="en-IN" dirty="0"/>
          </a:p>
        </p:txBody>
      </p:sp>
    </p:spTree>
    <p:extLst>
      <p:ext uri="{BB962C8B-B14F-4D97-AF65-F5344CB8AC3E}">
        <p14:creationId xmlns:p14="http://schemas.microsoft.com/office/powerpoint/2010/main" val="1098279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00B4D8"/>
          </a:solidFill>
          <a:ln w="12700">
            <a:solidFill>
              <a:srgbClr val="00B4D8"/>
            </a:solidFill>
            <a:prstDash val="solid"/>
          </a:ln>
        </p:spPr>
      </p:sp>
      <p:sp>
        <p:nvSpPr>
          <p:cNvPr id="3" name="Shape 1"/>
          <p:cNvSpPr/>
          <p:nvPr/>
        </p:nvSpPr>
        <p:spPr>
          <a:xfrm>
            <a:off x="609600" y="219456"/>
            <a:ext cx="1950720" cy="341376"/>
          </a:xfrm>
          <a:prstGeom prst="rect">
            <a:avLst/>
          </a:prstGeom>
          <a:solidFill>
            <a:srgbClr val="0077A8"/>
          </a:solidFill>
          <a:ln w="12700">
            <a:solidFill>
              <a:srgbClr val="0077A8"/>
            </a:solidFill>
            <a:prstDash val="solid"/>
          </a:ln>
        </p:spPr>
      </p:sp>
      <p:sp>
        <p:nvSpPr>
          <p:cNvPr id="4" name="Text 2"/>
          <p:cNvSpPr/>
          <p:nvPr/>
        </p:nvSpPr>
        <p:spPr>
          <a:xfrm>
            <a:off x="609600" y="219456"/>
            <a:ext cx="1950720" cy="341376"/>
          </a:xfrm>
          <a:prstGeom prst="rect">
            <a:avLst/>
          </a:prstGeom>
          <a:noFill/>
          <a:ln/>
        </p:spPr>
        <p:txBody>
          <a:bodyPr wrap="square" lIns="0" tIns="0" rIns="0" bIns="0" rtlCol="0" anchor="ctr"/>
          <a:lstStyle/>
          <a:p>
            <a:pPr algn="ctr"/>
            <a:r>
              <a:rPr lang="en-US" sz="1000" b="1" dirty="0">
                <a:solidFill>
                  <a:schemeClr val="bg1"/>
                </a:solidFill>
              </a:rPr>
              <a:t>Idea</a:t>
            </a:r>
            <a:endParaRPr lang="en-US" sz="1000" dirty="0">
              <a:solidFill>
                <a:schemeClr val="bg1"/>
              </a:solidFill>
            </a:endParaRPr>
          </a:p>
        </p:txBody>
      </p:sp>
      <p:sp>
        <p:nvSpPr>
          <p:cNvPr id="5" name="Text 3"/>
          <p:cNvSpPr/>
          <p:nvPr/>
        </p:nvSpPr>
        <p:spPr>
          <a:xfrm>
            <a:off x="609600" y="670560"/>
            <a:ext cx="10972800" cy="853440"/>
          </a:xfrm>
          <a:prstGeom prst="rect">
            <a:avLst/>
          </a:prstGeom>
          <a:noFill/>
          <a:ln/>
        </p:spPr>
        <p:txBody>
          <a:bodyPr wrap="square" lIns="0" tIns="0" rIns="0" bIns="0" rtlCol="0" anchor="ctr"/>
          <a:lstStyle/>
          <a:p>
            <a:r>
              <a:rPr lang="en-US" sz="4267" b="1" dirty="0">
                <a:latin typeface="Calibri" pitchFamily="34" charset="0"/>
                <a:ea typeface="Calibri" pitchFamily="34" charset="-122"/>
                <a:cs typeface="Calibri" pitchFamily="34" charset="-120"/>
              </a:rPr>
              <a:t>Future Vision</a:t>
            </a:r>
            <a:endParaRPr lang="en-US" sz="4267" dirty="0"/>
          </a:p>
        </p:txBody>
      </p:sp>
      <p:sp>
        <p:nvSpPr>
          <p:cNvPr id="18" name="Text 1">
            <a:extLst>
              <a:ext uri="{FF2B5EF4-FFF2-40B4-BE49-F238E27FC236}">
                <a16:creationId xmlns:a16="http://schemas.microsoft.com/office/drawing/2014/main" id="{B0488D4E-8E6D-456D-9B00-8A96881B3AC1}"/>
              </a:ext>
            </a:extLst>
          </p:cNvPr>
          <p:cNvSpPr/>
          <p:nvPr/>
        </p:nvSpPr>
        <p:spPr>
          <a:xfrm>
            <a:off x="5852160" y="1395928"/>
            <a:ext cx="5120640" cy="5486400"/>
          </a:xfrm>
          <a:prstGeom prst="rect">
            <a:avLst/>
          </a:prstGeom>
          <a:noFill/>
          <a:ln/>
        </p:spPr>
        <p:txBody>
          <a:bodyPr wrap="square" rtlCol="0" anchor="ctr"/>
          <a:lstStyle/>
          <a:p>
            <a:pPr algn="ctr"/>
            <a:endParaRPr lang="en-US" sz="26666" dirty="0"/>
          </a:p>
        </p:txBody>
      </p:sp>
      <p:sp>
        <p:nvSpPr>
          <p:cNvPr id="9" name="TextBox 8">
            <a:extLst>
              <a:ext uri="{FF2B5EF4-FFF2-40B4-BE49-F238E27FC236}">
                <a16:creationId xmlns:a16="http://schemas.microsoft.com/office/drawing/2014/main" id="{04DB0243-BB37-4E48-8F2A-F31495290DC7}"/>
              </a:ext>
            </a:extLst>
          </p:cNvPr>
          <p:cNvSpPr txBox="1"/>
          <p:nvPr/>
        </p:nvSpPr>
        <p:spPr>
          <a:xfrm>
            <a:off x="740496" y="1682945"/>
            <a:ext cx="9833293" cy="2308324"/>
          </a:xfrm>
          <a:prstGeom prst="rect">
            <a:avLst/>
          </a:prstGeom>
          <a:noFill/>
        </p:spPr>
        <p:txBody>
          <a:bodyPr wrap="square" rtlCol="0">
            <a:spAutoFit/>
          </a:bodyPr>
          <a:lstStyle/>
          <a:p>
            <a:r>
              <a:rPr lang="en-US" dirty="0" err="1"/>
              <a:t>AgentXecution</a:t>
            </a:r>
            <a:r>
              <a:rPr lang="en-US" dirty="0"/>
              <a:t> aims to evolve into a fully autonomous AI workflow operating system capable of:
• Real-time meeting integrations
• Autonomous scheduling
• Cross-platform workflow execution
• Adaptive team intelligence
• Lightweight on-device AI deployment</a:t>
            </a:r>
          </a:p>
          <a:p>
            <a:endParaRPr lang="en-IN" dirty="0"/>
          </a:p>
        </p:txBody>
      </p:sp>
    </p:spTree>
    <p:extLst>
      <p:ext uri="{BB962C8B-B14F-4D97-AF65-F5344CB8AC3E}">
        <p14:creationId xmlns:p14="http://schemas.microsoft.com/office/powerpoint/2010/main" val="23082323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TotalTime>
  <Words>790</Words>
  <Application>Microsoft Office PowerPoint</Application>
  <PresentationFormat>Widescreen</PresentationFormat>
  <Paragraphs>96</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Berlin Sans FB Demi</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Prakhar Chandrakar ./PRISM /SRI-Bangalore/Professional/Samsung Electronics</dc:creator>
  <cp:lastModifiedBy>Mandhara Natraj</cp:lastModifiedBy>
  <cp:revision>8</cp:revision>
  <cp:lastPrinted>2026-05-08T10:49:43Z</cp:lastPrinted>
  <dcterms:created xsi:type="dcterms:W3CDTF">2026-04-27T09:11:02Z</dcterms:created>
  <dcterms:modified xsi:type="dcterms:W3CDTF">2026-05-08T14:43:12Z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